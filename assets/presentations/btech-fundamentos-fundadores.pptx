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</a:defRPr>
            </a:pPr>
            <a:r>
              <a:t>Os Fundamentos da BTECH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4F2FF"/>
                </a:solidFill>
              </a:defRPr>
            </a:pPr>
            <a:r>
              <a:t>Uma conversa sobre o futuro que queremos construir.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6199632"/>
            <a:ext cx="1463040" cy="91440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06040" y="6199632"/>
            <a:ext cx="1463040" cy="91440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6199632"/>
            <a:ext cx="1463040" cy="91440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23560" y="6199632"/>
            <a:ext cx="1463040" cy="91440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E1B4"/>
                </a:solidFill>
              </a:defRPr>
            </a:pPr>
            <a:r>
              <a:t>DISCUSSÃO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7589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</a:defRPr>
            </a:pPr>
            <a:r>
              <a:t>Por que a BTECH existe?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F4F2FF"/>
                </a:solidFill>
              </a:defRPr>
            </a:pPr>
            <a:r>
              <a:t>Antes de tudo: cada fundador responde em voz alta (3 min).</a:t>
            </a:r>
            <a:br/>
            <a:r>
              <a:t>Sem debate ainda — só escutar. Registrar no quadro.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6199632"/>
            <a:ext cx="1463040" cy="91440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06040" y="6199632"/>
            <a:ext cx="1463040" cy="91440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6199632"/>
            <a:ext cx="1463040" cy="91440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23560" y="6199632"/>
            <a:ext cx="1463040" cy="91440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50510"/>
                </a:solidFill>
              </a:defRPr>
            </a:pPr>
            <a:r>
              <a:t>Quem é a BTECH hoje?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9144000" cy="73152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74980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50510"/>
                </a:solidFill>
              </a:defRPr>
            </a:pPr>
            <a:r>
              <a:t>Hoje, a BTECH somos nós.</a:t>
            </a:r>
          </a:p>
          <a:p>
            <a:pPr>
              <a:spcAft>
                <a:spcPts val="800"/>
              </a:spcAft>
              <a:defRPr sz="2000">
                <a:solidFill>
                  <a:srgbClr val="050510"/>
                </a:solidFill>
              </a:defRPr>
            </a:pPr>
            <a:r>
              <a:t>Não somos um site, infraestrutura, plataforma ou produto.</a:t>
            </a:r>
          </a:p>
          <a:p>
            <a:pPr>
              <a:spcAft>
                <a:spcPts val="800"/>
              </a:spcAft>
              <a:defRPr sz="2000">
                <a:solidFill>
                  <a:srgbClr val="050510"/>
                </a:solidFill>
              </a:defRPr>
            </a:pPr>
            <a:r>
              <a:t>Somos pessoas tentando compreender uma transformação histórica.</a:t>
            </a:r>
          </a:p>
          <a:p>
            <a:pPr>
              <a:spcAft>
                <a:spcPts val="800"/>
              </a:spcAft>
              <a:defRPr sz="2000">
                <a:solidFill>
                  <a:srgbClr val="05051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50510"/>
                </a:solidFill>
              </a:defRPr>
            </a:pPr>
            <a:r>
              <a:t>Objetivo deste encontro:</a:t>
            </a:r>
          </a:p>
          <a:p>
            <a:pPr>
              <a:spcAft>
                <a:spcPts val="800"/>
              </a:spcAft>
              <a:defRPr sz="2000">
                <a:solidFill>
                  <a:srgbClr val="050510"/>
                </a:solidFill>
              </a:defRPr>
            </a:pPr>
            <a:r>
              <a:t>Descobrir o que estamos realmente construindo.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1">
                <a:solidFill>
                  <a:srgbClr val="FFFFFF"/>
                </a:solidFill>
              </a:defRPr>
            </a:pPr>
            <a:r>
              <a:t>Sonho que se sonha só é apenas um sonho.</a:t>
            </a:r>
            <a:br/>
            <a:br/>
            <a:r>
              <a:t>Sonho que se sonha junto é realidade.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6199632"/>
            <a:ext cx="1463040" cy="91440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606040" y="6199632"/>
            <a:ext cx="1463040" cy="91440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6199632"/>
            <a:ext cx="1463040" cy="91440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6199632"/>
            <a:ext cx="1463040" cy="91440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50510"/>
                </a:solidFill>
              </a:defRPr>
            </a:pPr>
            <a:r>
              <a:t>O mundo em transformação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787391"/>
                </a:solidFill>
              </a:defRPr>
            </a:pPr>
            <a:r>
              <a:t>Já vivemos algo parecido antes?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9144000" cy="73152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6E1EE6"/>
                </a:solidFill>
              </a:defRPr>
            </a:pPr>
            <a:r>
              <a:t>Agricultura  →  Revolução Industrial  →  Internet  →  Inteligência Artificial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50510"/>
                </a:solidFill>
              </a:defRPr>
            </a:pPr>
            <a:r>
              <a:t>A última grande transformação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9144000" cy="73152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74980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50510"/>
                </a:solidFill>
              </a:defRPr>
            </a:pPr>
            <a:r>
              <a:t>A máquina a vapor não mudou apenas fábricas.</a:t>
            </a:r>
          </a:p>
          <a:p>
            <a:pPr>
              <a:spcAft>
                <a:spcPts val="800"/>
              </a:spcAft>
              <a:defRPr sz="2000">
                <a:solidFill>
                  <a:srgbClr val="050510"/>
                </a:solidFill>
              </a:defRPr>
            </a:pPr>
            <a:r>
              <a:t>Mudou cidades, famílias, educação, profissões, governos, transporte, economia.</a:t>
            </a:r>
          </a:p>
          <a:p>
            <a:pPr>
              <a:spcAft>
                <a:spcPts val="800"/>
              </a:spcAft>
              <a:defRPr sz="2000">
                <a:solidFill>
                  <a:srgbClr val="050510"/>
                </a:solidFill>
              </a:defRPr>
            </a:pPr>
            <a:r>
              <a:t>O trabalho tornou-se o principal organizador da vida social.</a:t>
            </a:r>
          </a:p>
          <a:p>
            <a:pPr>
              <a:spcAft>
                <a:spcPts val="800"/>
              </a:spcAft>
              <a:defRPr sz="2000">
                <a:solidFill>
                  <a:srgbClr val="05051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50510"/>
                </a:solidFill>
              </a:defRPr>
            </a:pPr>
            <a:r>
              <a:t>Não foi só tecnologia — foi reorganização da sociedade.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50510"/>
                </a:solidFill>
              </a:defRPr>
            </a:pPr>
            <a:r>
              <a:t>E agora?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9144000" cy="73152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  <a:r>
              <a:t>IA · Agentes · Automação · Conhecimento digital</a:t>
            </a:r>
          </a:p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  <a:r>
              <a:t>Conhecimento distribuído instantaneamente.</a:t>
            </a:r>
          </a:p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  <a:r>
              <a:t>Software com custo marginal próximo de zero.</a:t>
            </a:r>
          </a:p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  <a:r>
              <a:t>Uma pessoa pode ter capacidades antes restritas a grandes organizações.</a:t>
            </a:r>
          </a:p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  <a:r>
              <a:t>Nova tecnologia — ou nova reorganização da sociedade?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50510"/>
                </a:solidFill>
              </a:defRPr>
            </a:pPr>
            <a:r>
              <a:t>Pense na educação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9144000" cy="73152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  <a:r>
              <a:t>A escola industrial formou pessoas para processos, horários e tarefas repetíveis.</a:t>
            </a:r>
          </a:p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  <a:r>
              <a:t>Uma IA pode ensinar, traduzir, gerar código, analisar dados, tutorar.</a:t>
            </a:r>
          </a:p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  <a:r>
              <a:t>O que significa educar alguém nesse mundo?</a:t>
            </a:r>
          </a:p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  <a:r>
              <a:t>Criatividade · pensamento crítico · ética · colaboração · boas perguntas.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50510"/>
                </a:solidFill>
              </a:defRPr>
            </a:pPr>
            <a:r>
              <a:t>Qual é o papel do ser humano?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9144000" cy="73152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50510"/>
                </a:solidFill>
              </a:defRPr>
            </a:pPr>
            <a:r>
              <a:t>A IA executa tarefas. O propósito continua sendo humano.</a:t>
            </a:r>
          </a:p>
          <a:p>
            <a:pPr>
              <a:spcAft>
                <a:spcPts val="800"/>
              </a:spcAft>
              <a:defRPr sz="2000">
                <a:solidFill>
                  <a:srgbClr val="05051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50510"/>
                </a:solidFill>
              </a:defRPr>
            </a:pPr>
            <a:r>
              <a:t>Talvez a IA não esteja aqui para nos substituir.</a:t>
            </a:r>
          </a:p>
          <a:p>
            <a:pPr>
              <a:spcAft>
                <a:spcPts val="800"/>
              </a:spcAft>
              <a:defRPr sz="2000">
                <a:solidFill>
                  <a:srgbClr val="050510"/>
                </a:solidFill>
              </a:defRPr>
            </a:pPr>
            <a:r>
              <a:t>Talvez esteja aqui para nos libertar do repetitivo.</a:t>
            </a:r>
          </a:p>
          <a:p>
            <a:pPr>
              <a:spcAft>
                <a:spcPts val="800"/>
              </a:spcAft>
              <a:defRPr sz="2000">
                <a:solidFill>
                  <a:srgbClr val="050510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50510"/>
                </a:solidFill>
              </a:defRPr>
            </a:pPr>
            <a:r>
              <a:t>Não substituir pessoas. Potencializar pessoas.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50510"/>
                </a:solidFill>
              </a:defRPr>
            </a:pPr>
            <a:r>
              <a:t>Dois futuros possíveis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3931920" cy="4389120"/>
          </a:xfrm>
          <a:prstGeom prst="rect">
            <a:avLst/>
          </a:prstGeom>
          <a:solidFill>
            <a:srgbClr val="231937"/>
          </a:solidFill>
          <a:ln>
            <a:solidFill>
              <a:srgbClr val="C80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Concentração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4F2FF"/>
                </a:solidFill>
              </a:defRPr>
            </a:pPr>
            <a:r>
              <a:t>Riqueza e conhecimento concentram</a:t>
            </a:r>
          </a:p>
          <a:p>
            <a:pPr>
              <a:spcAft>
                <a:spcPts val="800"/>
              </a:spcAft>
              <a:defRPr sz="1700">
                <a:solidFill>
                  <a:srgbClr val="F4F2FF"/>
                </a:solidFill>
              </a:defRPr>
            </a:pPr>
            <a:r>
              <a:t>Decisões concentram</a:t>
            </a:r>
          </a:p>
          <a:p>
            <a:pPr>
              <a:spcAft>
                <a:spcPts val="800"/>
              </a:spcAft>
              <a:defRPr sz="1700">
                <a:solidFill>
                  <a:srgbClr val="F4F2FF"/>
                </a:solidFill>
              </a:defRPr>
            </a:pPr>
            <a:r>
              <a:t>Poucos controlam muito</a:t>
            </a:r>
          </a:p>
          <a:p>
            <a:pPr>
              <a:spcAft>
                <a:spcPts val="800"/>
              </a:spcAft>
              <a:defRPr sz="1700">
                <a:solidFill>
                  <a:srgbClr val="F4F2FF"/>
                </a:solidFill>
              </a:defRPr>
            </a:pPr>
            <a:r>
              <a:t>Autonomia diminui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3931920" cy="4389120"/>
          </a:xfrm>
          <a:prstGeom prst="rect">
            <a:avLst/>
          </a:prstGeom>
          <a:solidFill>
            <a:srgbClr val="0F2846"/>
          </a:solidFill>
          <a:ln>
            <a:solidFill>
              <a:srgbClr val="00E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Ampliação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945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4F2FF"/>
                </a:solidFill>
              </a:defRPr>
            </a:pPr>
            <a:r>
              <a:t>Conhecimento distribuído</a:t>
            </a:r>
          </a:p>
          <a:p>
            <a:pPr>
              <a:spcAft>
                <a:spcPts val="800"/>
              </a:spcAft>
              <a:defRPr sz="1700">
                <a:solidFill>
                  <a:srgbClr val="F4F2FF"/>
                </a:solidFill>
              </a:defRPr>
            </a:pPr>
            <a:r>
              <a:t>Oportunidades ampliadas</a:t>
            </a:r>
          </a:p>
          <a:p>
            <a:pPr>
              <a:spcAft>
                <a:spcPts val="800"/>
              </a:spcAft>
              <a:defRPr sz="1700">
                <a:solidFill>
                  <a:srgbClr val="F4F2FF"/>
                </a:solidFill>
              </a:defRPr>
            </a:pPr>
            <a:r>
              <a:t>PMEs ganham capacidade</a:t>
            </a:r>
          </a:p>
          <a:p>
            <a:pPr>
              <a:spcAft>
                <a:spcPts val="800"/>
              </a:spcAft>
              <a:defRPr sz="1700">
                <a:solidFill>
                  <a:srgbClr val="F4F2FF"/>
                </a:solidFill>
              </a:defRPr>
            </a:pPr>
            <a:r>
              <a:t>Mais liberdade humana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63640"/>
            <a:ext cx="9144000" cy="73152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E1B4"/>
                </a:solidFill>
              </a:defRPr>
            </a:pPr>
            <a:r>
              <a:t>DISCUSSÃO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7589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</a:defRPr>
            </a:pPr>
            <a:r>
              <a:t>Em qual futuro queremos atuar?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F4F2FF"/>
                </a:solidFill>
              </a:defRPr>
            </a:pPr>
            <a:r>
              <a:t>15 min · Cada um 2 min + síntese no quadro.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6199632"/>
            <a:ext cx="1463040" cy="91440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06040" y="6199632"/>
            <a:ext cx="1463040" cy="91440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6199632"/>
            <a:ext cx="1463040" cy="91440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23560" y="6199632"/>
            <a:ext cx="1463040" cy="91440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50510"/>
                </a:solidFill>
              </a:defRPr>
            </a:pPr>
            <a:r>
              <a:t>Onde a BTECH entra?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9144000" cy="73152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50510"/>
                </a:solidFill>
              </a:defRPr>
            </a:pPr>
            <a:r>
              <a:t>Cloud? Backup? Infraestrutura? Automação? IA? Agentes?</a:t>
            </a:r>
            <a:br/>
            <a:br/>
            <a:r>
              <a:t>Ou algo maior?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50510"/>
                </a:solidFill>
              </a:defRPr>
            </a:pPr>
            <a:r>
              <a:t>O que temos construído?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9144000" cy="73152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6E1EE6"/>
                </a:solidFill>
              </a:defRPr>
            </a:pPr>
            <a:r>
              <a:t>Cloud · Backup · Infraestrutura · Automação · Agentes ·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050510"/>
                </a:solidFill>
              </a:defRPr>
            </a:pPr>
            <a:r>
              <a:t>O que todas essas iniciativas têm em comum?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50510"/>
                </a:solidFill>
              </a:defRPr>
            </a:pPr>
            <a:r>
              <a:t>O que isso amplia?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 i="0">
                <a:solidFill>
                  <a:srgbClr val="050510"/>
                </a:solidFill>
              </a:defRPr>
            </a:pPr>
            <a:r>
              <a:t>Agente para terapeuta</a:t>
            </a:r>
            <a:br/>
            <a:br/>
            <a:r>
              <a:t>Não é só automação.</a:t>
            </a:r>
            <a:br/>
            <a:r>
              <a:t>É capacidade operacional que antes só estruturas maiores tinham.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 i="0">
                <a:solidFill>
                  <a:srgbClr val="050510"/>
                </a:solidFill>
              </a:defRPr>
            </a:pPr>
            <a:r>
              <a:t>IA para pequenas empresas</a:t>
            </a:r>
            <a:br/>
            <a:br/>
            <a:r>
              <a:t>Não é só software.</a:t>
            </a:r>
            <a:br/>
            <a:r>
              <a:t>É distribuir acesso tecnológico e ampliar capacidade produtiva.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1371600"/>
            <a:ext cx="36576" cy="4114800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30352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6E1EE6"/>
                </a:solidFill>
              </a:defRPr>
            </a:pPr>
            <a:r>
              <a:t>Ferramentas para ampliar capacidades humanas — não substituí-las.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63640"/>
            <a:ext cx="9144000" cy="73152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4F2FF"/>
                </a:solidFill>
              </a:defRPr>
            </a:pPr>
            <a:r>
              <a:t>A maioria pergunta: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1">
                <a:solidFill>
                  <a:srgbClr val="FFFFFF"/>
                </a:solidFill>
              </a:defRPr>
            </a:pPr>
            <a:r>
              <a:t>“Como ganhamos dinheiro com essa tecnologia?”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E1B4"/>
                </a:solidFill>
              </a:defRPr>
            </a:pPr>
            <a:r>
              <a:t>Nossa pergunta: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</a:defRPr>
            </a:pPr>
            <a:r>
              <a:t>“Como ganhamos dinheiro ampliando capacidades humanas através da tecnologia?”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6199632"/>
            <a:ext cx="1463040" cy="91440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6040" y="6199632"/>
            <a:ext cx="1463040" cy="91440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6199632"/>
            <a:ext cx="1463040" cy="91440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23560" y="6199632"/>
            <a:ext cx="1463040" cy="91440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50510"/>
                </a:solidFill>
              </a:defRPr>
            </a:pPr>
            <a:r>
              <a:t>Importante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9144000" cy="73152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050510"/>
                </a:solidFill>
              </a:defRPr>
            </a:pPr>
            <a:r>
              <a:t>A BTECH não é um movimento. É um negócio.</a:t>
            </a:r>
          </a:p>
          <a:p>
            <a:pPr>
              <a:spcAft>
                <a:spcPts val="800"/>
              </a:spcAft>
              <a:defRPr sz="2100">
                <a:solidFill>
                  <a:srgbClr val="050510"/>
                </a:solidFill>
              </a:defRPr>
            </a:pPr>
            <a:r>
              <a:t>Queremos crescer, gerar valor, lucro e sustentabilidade.</a:t>
            </a:r>
          </a:p>
          <a:p>
            <a:pPr>
              <a:spcAft>
                <a:spcPts val="800"/>
              </a:spcAft>
              <a:defRPr sz="2100">
                <a:solidFill>
                  <a:srgbClr val="050510"/>
                </a:solidFill>
              </a:defRPr>
            </a:pPr>
          </a:p>
          <a:p>
            <a:pPr>
              <a:spcAft>
                <a:spcPts val="800"/>
              </a:spcAft>
              <a:defRPr sz="2100">
                <a:solidFill>
                  <a:srgbClr val="050510"/>
                </a:solidFill>
              </a:defRPr>
            </a:pPr>
            <a:r>
              <a:t>Acreditamos que crescimento econômico e transformação positiva podem caminhar juntos.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</a:defRPr>
            </a:pPr>
            <a:r>
              <a:t>O significado do B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6199632"/>
            <a:ext cx="1463040" cy="91440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606040" y="6199632"/>
            <a:ext cx="1463040" cy="91440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6199632"/>
            <a:ext cx="1463040" cy="91440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6199632"/>
            <a:ext cx="1463040" cy="91440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74980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4F2FF"/>
                </a:solidFill>
              </a:defRPr>
            </a:pPr>
            <a:r>
              <a:t>O B não é apenas uma alternativa tecnológica.</a:t>
            </a:r>
            <a:br/>
            <a:br/>
            <a:r>
              <a:t>É uma alternativa de visão — uma escolha sobre como construir o futuro.</a:t>
            </a:r>
            <a:br/>
            <a:br/>
            <a:r>
              <a:t>Ampliação, não concentração.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E1B4"/>
                </a:solidFill>
              </a:defRPr>
            </a:pPr>
            <a:r>
              <a:t>DISCUSSÃO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7589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</a:defRPr>
            </a:pPr>
            <a:r>
              <a:t>Debate: o que estamos construindo de verdade?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F4F2FF"/>
                </a:solidFill>
              </a:defRPr>
            </a:pPr>
            <a:r>
              <a:t>20 min · Reações à proposta abaixo. Ajustar palavras, não só concordar.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6199632"/>
            <a:ext cx="1463040" cy="91440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06040" y="6199632"/>
            <a:ext cx="1463040" cy="91440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6199632"/>
            <a:ext cx="1463040" cy="91440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23560" y="6199632"/>
            <a:ext cx="1463040" cy="91440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50510"/>
                </a:solidFill>
              </a:defRPr>
            </a:pPr>
            <a:r>
              <a:t>Proposta de PORQUÊ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74980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787391"/>
                </a:solidFill>
              </a:defRPr>
            </a:pPr>
            <a:r>
              <a:t>(rascunho para reação do grupo)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9144000" cy="73152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74980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050510"/>
                </a:solidFill>
              </a:defRPr>
            </a:pPr>
            <a:r>
              <a:t>Acreditamos que a próxima revolução tecnológica deve ampliar capacidades humanas, democratizar oportunidades e contribuir para uma sociedade mais autônoma, acessível e próspera.</a:t>
            </a:r>
            <a:br/>
            <a:br/>
            <a:r>
              <a:t>A BTECH existe para participar ativamente dessa transformação.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50510"/>
                </a:solidFill>
              </a:defRPr>
            </a:pPr>
            <a:r>
              <a:t>Proposta de COMO e O QUÊ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9144000" cy="73152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  <a:r>
              <a:t>COMO: Transformar tecnologia complexa em solução acessível. Instrumento, não finalidade.</a:t>
            </a:r>
          </a:p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  <a:r>
              <a:t>O QUÊ hoje: Cloud · Backup · Infra · Automação · Agentes</a:t>
            </a:r>
          </a:p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  <a:r>
              <a:t>O QUÊ amanhã: Educação · Plataformas · Produtos · Laboratórios · Pesquisa</a:t>
            </a:r>
          </a:p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050510"/>
                </a:solidFill>
              </a:defRPr>
            </a:pPr>
            <a:r>
              <a:t>O quê muda. O porquê permanece.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E1B4"/>
                </a:solidFill>
              </a:defRPr>
            </a:pPr>
            <a:r>
              <a:t>DISCUSSÃO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7589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</a:defRPr>
            </a:pPr>
            <a:r>
              <a:t>Por que a BTECH existe?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F4F2FF"/>
                </a:solidFill>
              </a:defRPr>
            </a:pPr>
            <a:r>
              <a:t>Fechamento · 15 min · Cada um responde de novo, depois do debate.</a:t>
            </a:r>
            <a:br/>
            <a:r>
              <a:t>O que mudou na sua resposta? Síntese coletiva — 1 frase se possível.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6199632"/>
            <a:ext cx="1463040" cy="91440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06040" y="6199632"/>
            <a:ext cx="1463040" cy="91440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6199632"/>
            <a:ext cx="1463040" cy="91440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23560" y="6199632"/>
            <a:ext cx="1463040" cy="91440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1">
                <a:solidFill>
                  <a:srgbClr val="FFFFFF"/>
                </a:solidFill>
              </a:defRPr>
            </a:pPr>
            <a:r>
              <a:t>O futuro não é algo que encontramos.</a:t>
            </a:r>
            <a:br/>
            <a:br/>
            <a:r>
              <a:t>É algo que construímos.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6199632"/>
            <a:ext cx="1463040" cy="91440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606040" y="6199632"/>
            <a:ext cx="1463040" cy="91440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6199632"/>
            <a:ext cx="1463040" cy="91440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6199632"/>
            <a:ext cx="1463040" cy="91440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