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288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Fundamentos da BTECH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83464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F4F2FF"/>
                </a:solidFill>
              </a:defRPr>
            </a:pPr>
            <a:r>
              <a:t>Alinhamento com Bruno · Validar direção e seguir com o projeto.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6199632"/>
            <a:ext cx="141732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6199632"/>
            <a:ext cx="141732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0" y="6199632"/>
            <a:ext cx="141732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6199632"/>
            <a:ext cx="141732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288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050510"/>
                </a:solidFill>
              </a:defRPr>
            </a:pPr>
            <a:r>
              <a:t>Por que agora?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68880"/>
            <a:ext cx="7589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50510"/>
                </a:solidFill>
              </a:defRPr>
            </a:pPr>
            <a:r>
              <a:t>O alinhamento de fundação importa — define para onde vamos.</a:t>
            </a:r>
          </a:p>
          <a:p>
            <a:pPr>
              <a:spcAft>
                <a:spcPts val="600"/>
              </a:spcAft>
              <a:defRPr sz="2000">
                <a:solidFill>
                  <a:srgbClr val="050510"/>
                </a:solidFill>
              </a:defRPr>
            </a:pPr>
            <a:r>
              <a:t>Mas não podemos perder o timing. É agora.</a:t>
            </a:r>
          </a:p>
          <a:p>
            <a:pPr>
              <a:spcAft>
                <a:spcPts val="600"/>
              </a:spcAft>
              <a:defRPr sz="2000">
                <a:solidFill>
                  <a:srgbClr val="050510"/>
                </a:solidFill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050510"/>
                </a:solidFill>
              </a:defRPr>
            </a:pPr>
            <a:r>
              <a:t>Objetivo desta conversa:</a:t>
            </a:r>
          </a:p>
          <a:p>
            <a:pPr>
              <a:spcAft>
                <a:spcPts val="600"/>
              </a:spcAft>
              <a:defRPr sz="2000">
                <a:solidFill>
                  <a:srgbClr val="050510"/>
                </a:solidFill>
              </a:defRPr>
            </a:pPr>
            <a:r>
              <a:t>Validar o conceito em 45–60 min e voltar à execução.</a:t>
            </a:r>
          </a:p>
          <a:p>
            <a:pPr>
              <a:spcAft>
                <a:spcPts val="600"/>
              </a:spcAft>
              <a:defRPr sz="2000">
                <a:solidFill>
                  <a:srgbClr val="050510"/>
                </a:solidFill>
              </a:defRPr>
            </a:pPr>
            <a:r>
              <a:t>Não é workshop de grupo — é checagem de direção com quem aglutina o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E1B4"/>
                </a:solidFill>
              </a:defRPr>
            </a:pPr>
            <a:r>
              <a:t>CONVERSA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7589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</a:defRPr>
            </a:pPr>
            <a:r>
              <a:t>Por que a BTECH existe?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1">
                <a:solidFill>
                  <a:srgbClr val="F4F2FF"/>
                </a:solidFill>
              </a:defRPr>
            </a:pPr>
            <a:r>
              <a:t>Antes dos slides: qual é a sua leitura hoje?</a:t>
            </a:r>
            <a:br/>
            <a:r>
              <a:t>(5 min — você fala, eu escuto.)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199632"/>
            <a:ext cx="141732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6199632"/>
            <a:ext cx="141732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0" y="6199632"/>
            <a:ext cx="141732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6199632"/>
            <a:ext cx="141732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288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050510"/>
                </a:solidFill>
              </a:defRPr>
            </a:pPr>
            <a:r>
              <a:t>Uma mudança de 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7589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050510"/>
                </a:solidFill>
              </a:defRPr>
            </a:pPr>
            <a:r>
              <a:t>A Revolução Industrial não mudou só fábricas — reorganizou sociedade, trabalho, educação, cidades.</a:t>
            </a:r>
          </a:p>
          <a:p>
            <a:pPr>
              <a:spcAft>
                <a:spcPts val="6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050510"/>
                </a:solidFill>
              </a:defRPr>
            </a:pPr>
            <a:r>
              <a:t>IA, agentes e automação podem fazer algo parecido.</a:t>
            </a:r>
          </a:p>
          <a:p>
            <a:pPr>
              <a:spcAft>
                <a:spcPts val="6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050510"/>
                </a:solidFill>
              </a:defRPr>
            </a:pPr>
            <a:r>
              <a:t>Pergunta: estamos vendo nova tecnologia ou nova reorganização social?</a:t>
            </a:r>
          </a:p>
          <a:p>
            <a:pPr>
              <a:spcAft>
                <a:spcPts val="600"/>
              </a:spcAft>
              <a:defRPr sz="1900">
                <a:solidFill>
                  <a:srgbClr val="050510"/>
                </a:solidFill>
              </a:defRPr>
            </a:pPr>
          </a:p>
          <a:p>
            <a:pPr>
              <a:spcAft>
                <a:spcPts val="600"/>
              </a:spcAft>
              <a:defRPr sz="1900">
                <a:solidFill>
                  <a:srgbClr val="050510"/>
                </a:solidFill>
              </a:defRPr>
            </a:pPr>
            <a:r>
              <a:t>A IA deve ampliar possibilidades humanas — não substituí-las.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050510"/>
                </a:solidFill>
              </a:defRPr>
            </a:pPr>
            <a:r>
              <a:t>Dois futuros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3931920" cy="4114800"/>
          </a:xfrm>
          <a:prstGeom prst="rect">
            <a:avLst/>
          </a:prstGeom>
          <a:solidFill>
            <a:srgbClr val="2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Concentração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4F2FF"/>
                </a:solidFill>
              </a:defRPr>
            </a:pPr>
            <a:r>
              <a:t>Riqueza e decisão concentram</a:t>
            </a:r>
          </a:p>
          <a:p>
            <a:pPr>
              <a:spcAft>
                <a:spcPts val="600"/>
              </a:spcAft>
              <a:defRPr sz="1700">
                <a:solidFill>
                  <a:srgbClr val="F4F2FF"/>
                </a:solidFill>
              </a:defRPr>
            </a:pPr>
            <a:r>
              <a:t>Poucos controlam muito</a:t>
            </a:r>
          </a:p>
          <a:p>
            <a:pPr>
              <a:spcAft>
                <a:spcPts val="600"/>
              </a:spcAft>
              <a:defRPr sz="1700">
                <a:solidFill>
                  <a:srgbClr val="F4F2FF"/>
                </a:solidFill>
              </a:defRPr>
            </a:pPr>
            <a:r>
              <a:t>Autonomia diminui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280160"/>
            <a:ext cx="3931920" cy="4114800"/>
          </a:xfrm>
          <a:prstGeom prst="rect">
            <a:avLst/>
          </a:prstGeom>
          <a:solidFill>
            <a:srgbClr val="0F2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FFFFFF"/>
                </a:solidFill>
              </a:defRPr>
            </a:pPr>
            <a:r>
              <a:t>Ampliação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0116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4F2FF"/>
                </a:solidFill>
              </a:defRPr>
            </a:pPr>
            <a:r>
              <a:t>Acesso e oportunidade ampliam</a:t>
            </a:r>
          </a:p>
          <a:p>
            <a:pPr>
              <a:spcAft>
                <a:spcPts val="600"/>
              </a:spcAft>
              <a:defRPr sz="1700">
                <a:solidFill>
                  <a:srgbClr val="F4F2FF"/>
                </a:solidFill>
              </a:defRPr>
            </a:pPr>
            <a:r>
              <a:t>PMEs ganham capacidade</a:t>
            </a:r>
          </a:p>
          <a:p>
            <a:pPr>
              <a:spcAft>
                <a:spcPts val="600"/>
              </a:spcAft>
              <a:defRPr sz="1700">
                <a:solidFill>
                  <a:srgbClr val="F4F2FF"/>
                </a:solidFill>
              </a:defRPr>
            </a:pPr>
            <a:r>
              <a:t>Mais liberdade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50510"/>
                </a:solidFill>
              </a:defRPr>
            </a:pPr>
            <a:r>
              <a:t>A pergunta que nos diferencia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50510"/>
                </a:solidFill>
              </a:defRPr>
            </a:pPr>
            <a:r>
              <a:t>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E1EE6"/>
                </a:solidFill>
              </a:defRPr>
            </a:pPr>
            <a:r>
              <a:t>BTECH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50510"/>
                </a:solidFill>
              </a:defRPr>
            </a:pPr>
            <a:r>
              <a:t>Como ganhamos dinheiro com 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402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50510"/>
                </a:solidFill>
              </a:defRPr>
            </a:pPr>
            <a:r>
              <a:t>Como ampliamos capacidade humana e bem-estar com 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50510"/>
                </a:solidFill>
              </a:defRPr>
            </a:pPr>
            <a:r>
              <a:t>Produtividade e custo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1089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50510"/>
                </a:solidFill>
              </a:defRPr>
            </a:pPr>
            <a:r>
              <a:t>Quem ganha, perde, fica de fora, passa a ter acesso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50510"/>
                </a:solidFill>
              </a:defRPr>
            </a:pPr>
            <a:r>
              <a:t>Substituir pessoas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776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50510"/>
                </a:solidFill>
              </a:defRPr>
            </a:pPr>
            <a:r>
              <a:t>Potencializar pessoas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9496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 i="0">
                <a:solidFill>
                  <a:srgbClr val="6E1EE6"/>
                </a:solidFill>
              </a:defRPr>
            </a:pPr>
            <a:r>
              <a:t>Como garantir ampliação — e não concentração de poder?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288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050510"/>
                </a:solidFill>
              </a:defRPr>
            </a:pPr>
            <a:r>
              <a:t>O que já provamos no chão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50510"/>
                </a:solidFill>
              </a:defRPr>
            </a:pPr>
            <a:r>
              <a:t>Terapeuta + agente</a:t>
            </a:r>
            <a:br/>
            <a:br/>
            <a:r>
              <a:t>Parece automação.</a:t>
            </a:r>
            <a:br/>
            <a:r>
              <a:t>É capacidade operacional de clínica maior — sem substituir o profissional.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237744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50510"/>
                </a:solidFill>
              </a:defRPr>
            </a:pPr>
            <a:r>
              <a:t>PMEs · Atmo · consultoria</a:t>
            </a:r>
            <a:br/>
            <a:br/>
            <a:r>
              <a:t>Distribuir acesso a cloud e IA.</a:t>
            </a:r>
            <a:br/>
            <a:r>
              <a:t>Reduzir desigualdade tecnológica.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949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6E1EE6"/>
                </a:solidFill>
              </a:defRPr>
            </a:pPr>
            <a:r>
              <a:t>Não é ONG — é infraestrutura de transição. Negócio sustentável.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8288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</a:defRPr>
            </a:pPr>
            <a:r>
              <a:t>O B e a proposta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6199632"/>
            <a:ext cx="141732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0" y="6199632"/>
            <a:ext cx="141732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6199632"/>
            <a:ext cx="141732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0" y="6199632"/>
            <a:ext cx="141732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4F2FF"/>
                </a:solidFill>
              </a:defRPr>
            </a:pPr>
            <a:r>
              <a:t>B = ampliação (quem opera, quem decide, quem acessa). Cloud e IA são ferramentas.</a:t>
            </a:r>
          </a:p>
          <a:p>
            <a:pPr>
              <a:spcAft>
                <a:spcPts val="600"/>
              </a:spcAft>
              <a:defRPr sz="1800">
                <a:solidFill>
                  <a:srgbClr val="F4F2FF"/>
                </a:solidFill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4F2FF"/>
                </a:solidFill>
              </a:defRPr>
            </a:pPr>
            <a:r>
              <a:t>PORQUÊ: prosperar na nova economia da IA — com mais autonomia e acesso.</a:t>
            </a:r>
          </a:p>
          <a:p>
            <a:pPr>
              <a:spcAft>
                <a:spcPts val="600"/>
              </a:spcAft>
              <a:defRPr sz="1800">
                <a:solidFill>
                  <a:srgbClr val="F4F2FF"/>
                </a:solidFill>
              </a:defRPr>
            </a:pPr>
            <a:r>
              <a:t>COMO: tecnologia complexa → solução acessível, perto da operação.</a:t>
            </a:r>
          </a:p>
          <a:p>
            <a:pPr>
              <a:spcAft>
                <a:spcPts val="600"/>
              </a:spcAft>
              <a:defRPr sz="1800">
                <a:solidFill>
                  <a:srgbClr val="F4F2FF"/>
                </a:solidFill>
              </a:defRPr>
            </a:pPr>
            <a:r>
              <a:t>O QUÊ hoje: cloud, backup, infra, agentes, automação.</a:t>
            </a:r>
          </a:p>
          <a:p>
            <a:pPr>
              <a:spcAft>
                <a:spcPts val="600"/>
              </a:spcAft>
              <a:defRPr sz="1800">
                <a:solidFill>
                  <a:srgbClr val="F4F2FF"/>
                </a:solidFill>
              </a:defRPr>
            </a:pPr>
            <a:r>
              <a:t>O QUÊ depois: educação, plataformas, produtos — o quê muda, o porquê fica.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E1B4"/>
                </a:solidFill>
              </a:defRPr>
            </a:pPr>
            <a:r>
              <a:t>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7589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</a:defRPr>
            </a:pPr>
            <a:r>
              <a:t>Por que a BTECH existe?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1">
                <a:solidFill>
                  <a:srgbClr val="F4F2FF"/>
                </a:solidFill>
              </a:defRPr>
            </a:pPr>
            <a:r>
              <a:t>Fechamento · Valida, ajusta ou refuta?</a:t>
            </a:r>
            <a:br/>
            <a:r>
              <a:t>O que mudou depois desta conversa?</a:t>
            </a:r>
            <a:br/>
            <a:r>
              <a:t>Se alinhado: seguimos — timing é agora.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6199632"/>
            <a:ext cx="141732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6199632"/>
            <a:ext cx="141732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023360" y="6199632"/>
            <a:ext cx="141732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6199632"/>
            <a:ext cx="141732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0116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</a:defRPr>
            </a:pPr>
            <a:r>
              <a:t>Próximo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01752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F4F2FF"/>
                </a:solidFill>
              </a:defRPr>
            </a:pPr>
            <a:r>
              <a:t>Direção compartilhada → execução.</a:t>
            </a:r>
            <a:br/>
            <a:br/>
            <a:r>
              <a:t>Registrar 1 frase de porquê (se fizer sentido).</a:t>
            </a:r>
            <a:br/>
            <a:r>
              <a:t>Apresentar aos demais sócios quando for o momento.</a:t>
            </a:r>
            <a:br/>
            <a:br/>
            <a:r>
              <a:t>O futuro não é algo que encontramos.</a:t>
            </a:r>
            <a:br/>
            <a:r>
              <a:t>É algo que construímos.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6199632"/>
            <a:ext cx="1417320" cy="91440"/>
          </a:xfrm>
          <a:prstGeom prst="rect">
            <a:avLst/>
          </a:prstGeom>
          <a:solidFill>
            <a:srgbClr val="6E1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6199632"/>
            <a:ext cx="1417320" cy="91440"/>
          </a:xfrm>
          <a:prstGeom prst="rect">
            <a:avLst/>
          </a:prstGeom>
          <a:solidFill>
            <a:srgbClr val="143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0" y="6199632"/>
            <a:ext cx="1417320" cy="91440"/>
          </a:xfrm>
          <a:prstGeom prst="rect">
            <a:avLst/>
          </a:prstGeom>
          <a:solidFill>
            <a:srgbClr val="00E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6199632"/>
            <a:ext cx="1417320" cy="91440"/>
          </a:xfrm>
          <a:prstGeom prst="rect">
            <a:avLst/>
          </a:prstGeom>
          <a:solidFill>
            <a:srgbClr val="FFA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