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AF3C"/>
                </a:solidFill>
                <a:latin typeface="Calibri"/>
              </a:defRPr>
            </a:pPr>
            <a:r>
              <a:t>GUIA DO TEMPLATE (excluir antes de enviar ao cliente)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4324F"/>
                </a:solidFill>
                <a:latin typeface="Calibri"/>
              </a:defRPr>
            </a:pPr>
            <a:r>
              <a:t>Layouts incluídos neste arquivo:</a:t>
            </a:r>
            <a:br/>
            <a:br/>
            <a:r>
              <a:t>• Capa escura — hex + teia + logo</a:t>
            </a:r>
            <a:br/>
            <a:r>
              <a:t>• Sumário / agenda</a:t>
            </a:r>
            <a:br/>
            <a:r>
              <a:t>• Quem somos — texto + foto corporativa</a:t>
            </a:r>
            <a:br/>
            <a:r>
              <a:t>• Por que B — 6 cards (Bridge, Build, Beta…)</a:t>
            </a:r>
            <a:br/>
            <a:r>
              <a:t>• Contexto — destaque numérico + bullets</a:t>
            </a:r>
            <a:br/>
            <a:r>
              <a:t>• Desafios — lista numerada fundo escuro</a:t>
            </a:r>
            <a:br/>
            <a:r>
              <a:t>• Objetivos — bullets + foto workshop</a:t>
            </a:r>
            <a:br/>
            <a:r>
              <a:t>• Visão da solução — statement escuro</a:t>
            </a:r>
            <a:br/>
            <a:r>
              <a:t>• Arquitetura — fluxo hexagonal conectado</a:t>
            </a:r>
            <a:br/>
            <a:r>
              <a:t>• Escopo — tabela editável</a:t>
            </a:r>
            <a:br/>
            <a:r>
              <a:t>• Cronograma — fases em faixas</a:t>
            </a:r>
            <a:br/>
            <a:r>
              <a:t>• Entregáveis — tabela</a:t>
            </a:r>
            <a:br/>
            <a:r>
              <a:t>• Investimento — tabela + recorrência</a:t>
            </a:r>
            <a:br/>
            <a:r>
              <a:t>• Condições — premissas duas colunas</a:t>
            </a:r>
            <a:br/>
            <a:r>
              <a:t>• Por que BTech — 4 diferenciais + foto</a:t>
            </a:r>
            <a:br/>
            <a:r>
              <a:t>• Próximos passos — fluxo 4 etapas</a:t>
            </a:r>
            <a:br/>
            <a:r>
              <a:t>• Encerramento — CTA + contato</a:t>
            </a:r>
            <a:br/>
            <a:br/>
            <a:r>
              <a:t>Formato: 1920×1080 (16:9) · Fonte sugerida: Calibri</a:t>
            </a:r>
            <a:br/>
            <a:r>
              <a:t>Fundos gerados: assets/presentations/template/bg-*.png</a:t>
            </a:r>
            <a:br/>
            <a:r>
              <a:t>Edite no PowerPoint, Google Slides ou importe no Canva.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9BB9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0E1B4"/>
                </a:solidFill>
                <a:latin typeface="Calibri"/>
              </a:defRPr>
            </a:pPr>
            <a:r>
              <a:t>Proposta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9601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Amplie sua capacidade</a:t>
            </a:r>
            <a:br/>
            <a:r>
              <a:t>na era da Inteligência Artificial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77639"/>
            <a:ext cx="914400" cy="64008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3977639"/>
            <a:ext cx="914400" cy="64008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3977639"/>
            <a:ext cx="914400" cy="64008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3977639"/>
            <a:ext cx="914400" cy="64008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24324F"/>
                </a:solidFill>
                <a:latin typeface="Calibri"/>
              </a:defRPr>
            </a:pPr>
            <a:r>
              <a:t>Cloud · Backup · Automação · Agentes de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787391"/>
                </a:solidFill>
                <a:latin typeface="Calibri"/>
              </a:defRPr>
            </a:pPr>
            <a:r>
              <a:t>Cliente: [Nome da empresa]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787391"/>
                </a:solidFill>
                <a:latin typeface="Calibri"/>
              </a:defRPr>
            </a:pPr>
            <a:r>
              <a:t>Ref.: [BT-2026-001]  ·  [Mês/Ano]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9BB9"/>
                </a:solidFill>
              </a:defRPr>
            </a:pPr>
            <a:r>
              <a:t>BTech · Confidencial · Uso exclusivo do destinatário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light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1EE6"/>
                </a:solidFill>
                <a:latin typeface="Calibri"/>
              </a:defRPr>
            </a:pPr>
            <a: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050510"/>
                </a:solidFill>
                <a:latin typeface="Calibri"/>
              </a:defRPr>
            </a:pPr>
            <a:r>
              <a:t>O que vamos apresentar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640080" cy="64008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1691640"/>
            <a:ext cx="640080" cy="64008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20239" y="1691640"/>
            <a:ext cx="640080" cy="64008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691640"/>
            <a:ext cx="640080" cy="64008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4324F"/>
                </a:solidFill>
                <a:latin typeface="Calibri"/>
              </a:defRPr>
            </a:pPr>
            <a:r>
              <a:t>01  Contexto e desafio</a:t>
            </a:r>
          </a:p>
          <a:p>
            <a:pPr>
              <a:defRPr sz="2000">
                <a:solidFill>
                  <a:srgbClr val="24324F"/>
                </a:solidFill>
                <a:latin typeface="Calibri"/>
              </a:defRPr>
            </a:pPr>
            <a:r>
              <a:t>02  Nossa proposta de valor</a:t>
            </a:r>
          </a:p>
          <a:p>
            <a:pPr>
              <a:defRPr sz="2000">
                <a:solidFill>
                  <a:srgbClr val="24324F"/>
                </a:solidFill>
                <a:latin typeface="Calibri"/>
              </a:defRPr>
            </a:pPr>
            <a:r>
              <a:t>03  Solução e arquitetura</a:t>
            </a:r>
          </a:p>
          <a:p>
            <a:pPr>
              <a:defRPr sz="2000">
                <a:solidFill>
                  <a:srgbClr val="24324F"/>
                </a:solidFill>
                <a:latin typeface="Calibri"/>
              </a:defRPr>
            </a:pPr>
            <a:r>
              <a:t>04  Escopo, fases e cronograma</a:t>
            </a:r>
          </a:p>
          <a:p>
            <a:pPr>
              <a:defRPr sz="2000">
                <a:solidFill>
                  <a:srgbClr val="24324F"/>
                </a:solidFill>
                <a:latin typeface="Calibri"/>
              </a:defRPr>
            </a:pPr>
            <a:r>
              <a:t>05  Investimento e condições</a:t>
            </a:r>
          </a:p>
          <a:p>
            <a:pPr>
              <a:defRPr sz="2000">
                <a:solidFill>
                  <a:srgbClr val="24324F"/>
                </a:solidFill>
                <a:latin typeface="Calibri"/>
              </a:defRPr>
            </a:pPr>
            <a:r>
              <a:t>06  Por que a BTech</a:t>
            </a:r>
          </a:p>
          <a:p>
            <a:pPr>
              <a:defRPr sz="2000">
                <a:solidFill>
                  <a:srgbClr val="24324F"/>
                </a:solidFill>
                <a:latin typeface="Calibri"/>
              </a:defRPr>
            </a:pPr>
            <a:r>
              <a:t>07  Próximos passos</a:t>
            </a:r>
          </a:p>
        </p:txBody>
      </p:sp>
      <p:pic>
        <p:nvPicPr>
          <p:cNvPr id="11" name="Picture 10" descr="btech-client-conver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45920"/>
            <a:ext cx="6309360" cy="4206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37960" y="1600200"/>
            <a:ext cx="5120640" cy="4297679"/>
          </a:xfrm>
          <a:prstGeom prst="roundRect">
            <a:avLst/>
          </a:prstGeom>
          <a:noFill/>
          <a:ln w="15875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391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light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1EE6"/>
                </a:solidFill>
                <a:latin typeface="Calibri"/>
              </a:defRPr>
            </a:pPr>
            <a:r>
              <a:t>QUEM SOMOS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050510"/>
                </a:solidFill>
                <a:latin typeface="Calibri"/>
              </a:defRPr>
            </a:pPr>
            <a:r>
              <a:t>Tecnologia humana,</a:t>
            </a:r>
            <a:br/>
            <a:r>
              <a:t>resultado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 i="0">
                <a:solidFill>
                  <a:srgbClr val="24324F"/>
                </a:solidFill>
                <a:latin typeface="Calibri"/>
              </a:defRPr>
            </a:pPr>
            <a:r>
              <a:t>A BTech é uma empresa de tecnologia, infraestrutura e inteligência artificial focada em ampliar capacidades humanas e organizacionais.</a:t>
            </a:r>
          </a:p>
          <a:p>
            <a:pPr>
              <a:spcAft>
                <a:spcPts val="600"/>
              </a:spcAft>
              <a:defRPr sz="2000" b="0" i="0">
                <a:solidFill>
                  <a:srgbClr val="05051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 i="0">
                <a:solidFill>
                  <a:srgbClr val="24324F"/>
                </a:solidFill>
                <a:latin typeface="Calibri"/>
              </a:defRPr>
            </a:pPr>
            <a:r>
              <a:t>Construímos infraestrutura, automação e agentes inteligentes — com consultoria próxima da operação, do diagnóstico ao go-live.</a:t>
            </a:r>
          </a:p>
          <a:p>
            <a:pPr>
              <a:spcAft>
                <a:spcPts val="600"/>
              </a:spcAft>
              <a:defRPr sz="2000" b="0" i="0">
                <a:solidFill>
                  <a:srgbClr val="05051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1" i="0">
                <a:solidFill>
                  <a:srgbClr val="6E1EE6"/>
                </a:solidFill>
                <a:latin typeface="Calibri"/>
              </a:defRPr>
            </a:pPr>
            <a:r>
              <a:t>Não somos provedor de datacenter. Somos o parceiro que organiza, desenha e acompanha.</a:t>
            </a:r>
          </a:p>
        </p:txBody>
      </p:sp>
      <p:pic>
        <p:nvPicPr>
          <p:cNvPr id="7" name="Picture 6" descr="btech-operations-t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68580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234439"/>
            <a:ext cx="5394959" cy="4663440"/>
          </a:xfrm>
          <a:prstGeom prst="roundRect">
            <a:avLst/>
          </a:prstGeom>
          <a:noFill/>
          <a:ln w="15875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391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1B4"/>
                </a:solidFill>
                <a:latin typeface="Calibri"/>
              </a:defRPr>
            </a:pPr>
            <a:r>
              <a:t>POR QUE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O B da BTech — alternativa com propósito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685800" cy="64008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25880" y="1691640"/>
            <a:ext cx="685800" cy="64008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1691640"/>
            <a:ext cx="685800" cy="64008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1691640"/>
            <a:ext cx="685800" cy="64008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3291840" cy="1600200"/>
          </a:xfrm>
          <a:prstGeom prst="rect">
            <a:avLst/>
          </a:prstGeom>
          <a:solidFill>
            <a:srgbClr val="1A0B40"/>
          </a:solidFill>
          <a:ln w="127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286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00E1B4"/>
                </a:solidFill>
                <a:latin typeface="Calibri"/>
              </a:defRPr>
            </a:pPr>
            <a:r>
              <a:t>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889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Pontes entre negócio, TI e operação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291840" cy="1600200"/>
          </a:xfrm>
          <a:prstGeom prst="rect">
            <a:avLst/>
          </a:prstGeom>
          <a:solidFill>
            <a:srgbClr val="1A0B40"/>
          </a:solidFill>
          <a:ln w="127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00E1B4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Construímos soluções, não só slides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103120"/>
            <a:ext cx="3291840" cy="1600200"/>
          </a:xfrm>
          <a:prstGeom prst="rect">
            <a:avLst/>
          </a:prstGeom>
          <a:solidFill>
            <a:srgbClr val="1A0B40"/>
          </a:solidFill>
          <a:ln w="127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2286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00E1B4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7889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Iteração rápida com governança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3291840" cy="1600200"/>
          </a:xfrm>
          <a:prstGeom prst="rect">
            <a:avLst/>
          </a:prstGeom>
          <a:solidFill>
            <a:srgbClr val="1A0B40"/>
          </a:solidFill>
          <a:ln w="127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206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00E1B4"/>
                </a:solidFill>
                <a:latin typeface="Calibri"/>
              </a:defRPr>
            </a:pPr>
            <a:r>
              <a:t>Brasil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7091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Proximidade, contexto e confiança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023360"/>
            <a:ext cx="3291840" cy="1600200"/>
          </a:xfrm>
          <a:prstGeom prst="rect">
            <a:avLst/>
          </a:prstGeom>
          <a:solidFill>
            <a:srgbClr val="1A0B40"/>
          </a:solidFill>
          <a:ln w="127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00E1B4"/>
                </a:solidFill>
                <a:latin typeface="Calibri"/>
              </a:defRPr>
            </a:pPr>
            <a:r>
              <a:t>Better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091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Ampliação, não concentração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4023360"/>
            <a:ext cx="3291840" cy="1600200"/>
          </a:xfrm>
          <a:prstGeom prst="rect">
            <a:avLst/>
          </a:prstGeom>
          <a:solidFill>
            <a:srgbClr val="1A0B40"/>
          </a:solidFill>
          <a:ln w="127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4206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00E1B4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47091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Continuidade como base, não opcional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9BB9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light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1EE6"/>
                </a:solidFill>
                <a:latin typeface="Calibri"/>
              </a:defRPr>
            </a:pPr>
            <a: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050510"/>
                </a:solidFill>
                <a:latin typeface="Calibri"/>
              </a:defRPr>
            </a:pPr>
            <a:r>
              <a:t>Entendimento do cenário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24324F"/>
                </a:solidFill>
                <a:latin typeface="Calibri"/>
              </a:defRPr>
            </a:pPr>
            <a:r>
              <a:t>[Cliente] opera em um ambiente onde cloud, dados e IA deixaram de ser opcionais — mas a complexidade operacional cresceu mais rápido que a capacidade interna.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2377440" cy="1417320"/>
          </a:xfrm>
          <a:prstGeom prst="roundRect">
            <a:avLst/>
          </a:prstGeom>
          <a:solidFill>
            <a:srgbClr val="1A0B40"/>
          </a:solidFill>
          <a:ln w="19050">
            <a:solidFill>
              <a:srgbClr val="00E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00E1B4"/>
                </a:solidFill>
                <a:latin typeface="Calibri"/>
              </a:defRPr>
            </a:pPr>
            <a: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24324F"/>
                </a:solidFill>
                <a:latin typeface="Calibri"/>
              </a:defRPr>
            </a:pPr>
            <a:r>
              <a:t>processos ainda manuais*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926080"/>
            <a:ext cx="2377440" cy="1417320"/>
          </a:xfrm>
          <a:prstGeom prst="roundRect">
            <a:avLst/>
          </a:prstGeom>
          <a:solidFill>
            <a:srgbClr val="FAFBFF"/>
          </a:solidFill>
          <a:ln w="1905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0632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6E1EE6"/>
                </a:solidFill>
                <a:latin typeface="Calibri"/>
              </a:defRPr>
            </a:pPr>
            <a:r>
              <a:t>4+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7947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24324F"/>
                </a:solidFill>
                <a:latin typeface="Calibri"/>
              </a:defRPr>
            </a:pPr>
            <a:r>
              <a:t>sistemas sem integração*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926080"/>
            <a:ext cx="2377440" cy="1417320"/>
          </a:xfrm>
          <a:prstGeom prst="roundRect">
            <a:avLst/>
          </a:prstGeom>
          <a:solidFill>
            <a:srgbClr val="FAFBFF"/>
          </a:solidFill>
          <a:ln w="19050">
            <a:solidFill>
              <a:srgbClr val="FFA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0632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FFAF3C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7947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24324F"/>
                </a:solidFill>
                <a:latin typeface="Calibri"/>
              </a:defRPr>
            </a:pPr>
            <a:r>
              <a:t>pressão por continuidade*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787391"/>
                </a:solidFill>
                <a:latin typeface="Calibri"/>
              </a:defRPr>
            </a:pPr>
            <a:r>
              <a:t>* Exemplo — substituir por dados reais do diagnóstico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4324F"/>
                </a:solidFill>
                <a:latin typeface="Calibri"/>
              </a:defRPr>
            </a:pPr>
            <a:r>
              <a:t>Gestão precisa de visibilidade sem depender só da TI.</a:t>
            </a:r>
          </a:p>
          <a:p>
            <a:pPr>
              <a:defRPr sz="1600">
                <a:solidFill>
                  <a:srgbClr val="24324F"/>
                </a:solidFill>
                <a:latin typeface="Calibri"/>
              </a:defRPr>
            </a:pPr>
            <a:r>
              <a:t>TI precisa de arquitetura sustentável e parceiros que co-entreguem.</a:t>
            </a:r>
          </a:p>
          <a:p>
            <a:pPr>
              <a:defRPr sz="1600">
                <a:solidFill>
                  <a:srgbClr val="24324F"/>
                </a:solidFill>
                <a:latin typeface="Calibri"/>
              </a:defRPr>
            </a:pPr>
            <a:r>
              <a:t>Operação não pode parar enquanto a transformação acontece.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391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1B4"/>
                </a:solidFill>
                <a:latin typeface="Calibri"/>
              </a:defRPr>
            </a:pPr>
            <a:r>
              <a:t>DESAFIOS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O que precisa mudar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00E1B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Infraestrutura fragmentada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9572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Ambientes críticos sem padrão, documentação ou dono claro.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00E1B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632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Risco de continuidade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44728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Backup e DR não testados com a frequência que o negócio exige.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00E1B4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1148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Tarefas repetitivas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4988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Equipe absorve trabalho que deveria estar automatizado.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00E1B4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663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IA sem governança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55040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4324F"/>
                </a:solidFill>
                <a:latin typeface="Calibri"/>
              </a:defRPr>
            </a:pPr>
            <a:r>
              <a:t>Experimentos isolados, sem integração nem supervisão humana.</a:t>
            </a:r>
          </a:p>
        </p:txBody>
      </p:sp>
      <p:sp>
        <p:nvSpPr>
          <p:cNvPr id="16" name="Hexagon 15"/>
          <p:cNvSpPr/>
          <p:nvPr/>
        </p:nvSpPr>
        <p:spPr>
          <a:xfrm>
            <a:off x="10241280" y="731520"/>
            <a:ext cx="320040" cy="275234"/>
          </a:xfrm>
          <a:prstGeom prst="hexagon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10241280" y="1234440"/>
            <a:ext cx="283464" cy="243779"/>
          </a:xfrm>
          <a:prstGeom prst="hexagon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0241280" y="1737360"/>
            <a:ext cx="246887" cy="212323"/>
          </a:xfrm>
          <a:prstGeom prst="hexagon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10241280" y="2240280"/>
            <a:ext cx="210311" cy="180868"/>
          </a:xfrm>
          <a:prstGeom prst="hexagon">
            <a:avLst/>
          </a:prstGeom>
          <a:solidFill>
            <a:srgbClr val="C80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9BB9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light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1EE6"/>
                </a:solidFill>
                <a:latin typeface="Calibri"/>
              </a:defRPr>
            </a:pPr>
            <a: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050510"/>
                </a:solidFill>
                <a:latin typeface="Calibri"/>
              </a:defRPr>
            </a:pPr>
            <a:r>
              <a:t>O que este projeto precisa alcançar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4324F"/>
                </a:solidFill>
                <a:latin typeface="Calibri"/>
              </a:defRPr>
            </a:pPr>
            <a:r>
              <a:t>Estabilizar e modernizar a base cloud com governança.</a:t>
            </a:r>
          </a:p>
          <a:p>
            <a:pPr>
              <a:defRPr sz="1700">
                <a:solidFill>
                  <a:srgbClr val="24324F"/>
                </a:solidFill>
                <a:latin typeface="Calibri"/>
              </a:defRPr>
            </a:pPr>
            <a:r>
              <a:t>Garantir proteção e recuperação testada dos dados críticos.</a:t>
            </a:r>
          </a:p>
          <a:p>
            <a:pPr>
              <a:defRPr sz="1700">
                <a:solidFill>
                  <a:srgbClr val="24324F"/>
                </a:solidFill>
                <a:latin typeface="Calibri"/>
              </a:defRPr>
            </a:pPr>
            <a:r>
              <a:t>Automatizar fluxos repetitivos com integração entre sistemas.</a:t>
            </a:r>
          </a:p>
          <a:p>
            <a:pPr>
              <a:defRPr sz="1700">
                <a:solidFill>
                  <a:srgbClr val="24324F"/>
                </a:solidFill>
                <a:latin typeface="Calibri"/>
              </a:defRPr>
            </a:pPr>
            <a:r>
              <a:t>Introduzir agentes de IA com supervisão e métricas claras.</a:t>
            </a:r>
          </a:p>
          <a:p>
            <a:pPr>
              <a:defRPr sz="1700">
                <a:solidFill>
                  <a:srgbClr val="24324F"/>
                </a:solidFill>
                <a:latin typeface="Calibri"/>
              </a:defRPr>
            </a:pPr>
            <a:r>
              <a:t>Capacitar a equipe para sustentar a operação após o go-live.</a:t>
            </a:r>
          </a:p>
        </p:txBody>
      </p:sp>
      <p:pic>
        <p:nvPicPr>
          <p:cNvPr id="7" name="Picture 6" descr="btech-people-work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63040"/>
            <a:ext cx="658368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417320"/>
            <a:ext cx="5394959" cy="4480559"/>
          </a:xfrm>
          <a:prstGeom prst="roundRect">
            <a:avLst/>
          </a:prstGeom>
          <a:noFill/>
          <a:ln w="15875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391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1B4"/>
                </a:solidFill>
                <a:latin typeface="Calibri"/>
              </a:defRPr>
            </a:pPr>
            <a:r>
              <a:t>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Uma solução que amplia capacidade</a:t>
            </a:r>
            <a:br/>
            <a:r>
              <a:t>— não adiciona complexidade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 i="0">
                <a:solidFill>
                  <a:srgbClr val="24324F"/>
                </a:solidFill>
                <a:latin typeface="Calibri"/>
              </a:defRPr>
            </a:pPr>
            <a:r>
              <a:t>Combinamos infraestrutura confiável, automação pragmática e IA supervisionada, entregues em fases que a operação consegue absorver.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028700" cy="64008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68780" y="4572000"/>
            <a:ext cx="1028700" cy="64008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4572000"/>
            <a:ext cx="1028700" cy="64008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26180" y="4572000"/>
            <a:ext cx="1028700" cy="64008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9BB9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light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1EE6"/>
                </a:solidFill>
                <a:latin typeface="Calibri"/>
              </a:defRPr>
            </a:pPr>
            <a: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050510"/>
                </a:solidFill>
                <a:latin typeface="Calibri"/>
              </a:defRPr>
            </a:pPr>
            <a:r>
              <a:t>Fluxo da solução proposta</a:t>
            </a:r>
          </a:p>
        </p:txBody>
      </p:sp>
      <p:sp>
        <p:nvSpPr>
          <p:cNvPr id="6" name="Hexagon 5"/>
          <p:cNvSpPr/>
          <p:nvPr/>
        </p:nvSpPr>
        <p:spPr>
          <a:xfrm>
            <a:off x="594360" y="2560320"/>
            <a:ext cx="1234440" cy="1051560"/>
          </a:xfrm>
          <a:prstGeom prst="hexagon">
            <a:avLst/>
          </a:prstGeom>
          <a:solidFill>
            <a:srgbClr val="1A0B40"/>
          </a:solidFill>
          <a:ln w="254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6148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Usuários</a:t>
            </a:r>
            <a:br/>
            <a:r>
              <a:t>&amp; Gestão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7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0E1B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Hexagon 8"/>
          <p:cNvSpPr/>
          <p:nvPr/>
        </p:nvSpPr>
        <p:spPr>
          <a:xfrm>
            <a:off x="2203704" y="2560320"/>
            <a:ext cx="1234440" cy="1051560"/>
          </a:xfrm>
          <a:prstGeom prst="hexagon">
            <a:avLst/>
          </a:prstGeom>
          <a:solidFill>
            <a:srgbClr val="1A0B40"/>
          </a:solidFill>
          <a:ln w="25400">
            <a:solidFill>
              <a:srgbClr val="143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9424" y="276148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Automação</a:t>
            </a:r>
            <a:br/>
            <a:r>
              <a:t>&amp; Integração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24027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0E1B4"/>
                </a:solidFill>
                <a:latin typeface="Calibri"/>
              </a:defRPr>
            </a:pPr>
            <a: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3063239"/>
            <a:ext cx="374904" cy="0"/>
          </a:xfrm>
          <a:prstGeom prst="line">
            <a:avLst/>
          </a:prstGeom>
          <a:ln w="31750">
            <a:solidFill>
              <a:srgbClr val="143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3813048" y="2560320"/>
            <a:ext cx="1234440" cy="1051560"/>
          </a:xfrm>
          <a:prstGeom prst="hexagon">
            <a:avLst/>
          </a:prstGeom>
          <a:solidFill>
            <a:srgbClr val="1A0B40"/>
          </a:solidFill>
          <a:ln w="25400">
            <a:solidFill>
              <a:srgbClr val="00E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276148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Cloud</a:t>
            </a:r>
            <a:br/>
            <a:r>
              <a:t>&amp;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24027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0E1B4"/>
                </a:solidFill>
                <a:latin typeface="Calibri"/>
              </a:defRPr>
            </a:pPr>
            <a: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38144" y="3063239"/>
            <a:ext cx="374904" cy="0"/>
          </a:xfrm>
          <a:prstGeom prst="line">
            <a:avLst/>
          </a:prstGeom>
          <a:ln w="44450">
            <a:solidFill>
              <a:srgbClr val="143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Hexagon 16"/>
          <p:cNvSpPr/>
          <p:nvPr/>
        </p:nvSpPr>
        <p:spPr>
          <a:xfrm>
            <a:off x="5422392" y="2560320"/>
            <a:ext cx="1234440" cy="1051560"/>
          </a:xfrm>
          <a:prstGeom prst="hexagon">
            <a:avLst/>
          </a:prstGeom>
          <a:solidFill>
            <a:srgbClr val="1A0B40"/>
          </a:solidFill>
          <a:ln w="25400">
            <a:solidFill>
              <a:srgbClr val="C8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2" y="276148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Agentes</a:t>
            </a:r>
            <a:br/>
            <a:r>
              <a:t>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24027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0E1B4"/>
                </a:solidFill>
                <a:latin typeface="Calibri"/>
              </a:defRPr>
            </a:pPr>
            <a:r>
              <a:t>04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47488" y="3063239"/>
            <a:ext cx="374904" cy="0"/>
          </a:xfrm>
          <a:prstGeom prst="line">
            <a:avLst/>
          </a:prstGeom>
          <a:ln w="25400">
            <a:solidFill>
              <a:srgbClr val="143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Hexagon 20"/>
          <p:cNvSpPr/>
          <p:nvPr/>
        </p:nvSpPr>
        <p:spPr>
          <a:xfrm>
            <a:off x="7031736" y="2560320"/>
            <a:ext cx="1234440" cy="1051560"/>
          </a:xfrm>
          <a:prstGeom prst="hexagon">
            <a:avLst/>
          </a:prstGeom>
          <a:solidFill>
            <a:srgbClr val="1A0B40"/>
          </a:solidFill>
          <a:ln w="25400">
            <a:solidFill>
              <a:srgbClr val="FFA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6" y="276148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Backup</a:t>
            </a:r>
            <a:br/>
            <a:r>
              <a:t>&amp; 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24027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0E1B4"/>
                </a:solidFill>
                <a:latin typeface="Calibri"/>
              </a:defRPr>
            </a:pPr>
            <a:r>
              <a:t>05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56832" y="3063239"/>
            <a:ext cx="374904" cy="0"/>
          </a:xfrm>
          <a:prstGeom prst="line">
            <a:avLst/>
          </a:prstGeom>
          <a:ln w="31750">
            <a:solidFill>
              <a:srgbClr val="143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787391"/>
                </a:solidFill>
                <a:latin typeface="Calibri"/>
              </a:defRPr>
            </a:pPr>
            <a:r>
              <a:t>Linhas mais espessas = integrações críticas  ·  Hexágonos = pontos de conexão na operação</a:t>
            </a:r>
            <a:br/>
            <a:r>
              <a:t>Substitua os rótulos pelos sistemas reais do cliente (ERP, CRM, cloud provider, etc.)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391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btech-horizontal-ofici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1EE6"/>
                </a:solidFill>
                <a:latin typeface="Calibri"/>
              </a:defRPr>
            </a:pPr>
            <a:r>
              <a:t>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050510"/>
                </a:solidFill>
                <a:latin typeface="Calibri"/>
              </a:defRPr>
            </a:pPr>
            <a:r>
              <a:t>Escopo de trabalho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78992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88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Frente</a:t>
                      </a:r>
                    </a:p>
                  </a:txBody>
                  <a:tcPr>
                    <a:solidFill>
                      <a:srgbClr val="1A0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</a:t>
                      </a:r>
                    </a:p>
                  </a:txBody>
                  <a:tcPr>
                    <a:solidFill>
                      <a:srgbClr val="1A0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Responsável</a:t>
                      </a:r>
                    </a:p>
                  </a:txBody>
                  <a:tcPr>
                    <a:solidFill>
                      <a:srgbClr val="1A0B40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Arquitetura, migração e runbook operacional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BTech + [Parceiro cloud]</a:t>
                      </a:r>
                    </a:p>
                  </a:txBody>
                  <a:tcPr/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Backup / DR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Política, implementação e teste de restore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BTech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Automação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Fluxos n8n / CI-CD / integrações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BTech</a:t>
                      </a:r>
                    </a:p>
                  </a:txBody>
                  <a:tcPr/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Agentes IA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Agente atendimento + base de conhecimento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BTech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Governança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Rituais, indicadores e documentação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BTech + Cliente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391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1B4"/>
                </a:solidFill>
                <a:latin typeface="Calibri"/>
              </a:defRPr>
            </a:pPr>
            <a:r>
              <a:t>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Fases e marcos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789920" cy="868680"/>
          </a:xfrm>
          <a:prstGeom prst="rect">
            <a:avLst/>
          </a:prstGeom>
          <a:solidFill>
            <a:srgbClr val="1A0B40"/>
          </a:solidFill>
          <a:ln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0E1B4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Diagnóstico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2996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AF3C"/>
                </a:solidFill>
                <a:latin typeface="Calibri"/>
              </a:defRPr>
            </a:pPr>
            <a:r>
              <a:t>Semanas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299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4324F"/>
                </a:solidFill>
                <a:latin typeface="Calibri"/>
              </a:defRPr>
            </a:pPr>
            <a:r>
              <a:t>Mapa de sistemas, riscos e quick wins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10789920" cy="868680"/>
          </a:xfrm>
          <a:prstGeom prst="rect">
            <a:avLst/>
          </a:prstGeom>
          <a:solidFill>
            <a:srgbClr val="1A0B40"/>
          </a:solidFill>
          <a:ln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8152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0E1B4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63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Fundação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8152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AF3C"/>
                </a:solidFill>
                <a:latin typeface="Calibri"/>
              </a:defRPr>
            </a:pPr>
            <a:r>
              <a:t>Semanas 3–6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8152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4324F"/>
                </a:solidFill>
                <a:latin typeface="Calibri"/>
              </a:defRPr>
            </a:pPr>
            <a:r>
              <a:t>Cloud, backup e primeiras automações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23360"/>
            <a:ext cx="10789920" cy="868680"/>
          </a:xfrm>
          <a:prstGeom prst="rect">
            <a:avLst/>
          </a:prstGeom>
          <a:solidFill>
            <a:srgbClr val="1A0B40"/>
          </a:solidFill>
          <a:ln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33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0E1B4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114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Escala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33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AF3C"/>
                </a:solidFill>
                <a:latin typeface="Calibri"/>
              </a:defRPr>
            </a:pPr>
            <a:r>
              <a:t>Semanas 7–10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3308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4324F"/>
                </a:solidFill>
                <a:latin typeface="Calibri"/>
              </a:defRPr>
            </a:pPr>
            <a:r>
              <a:t>Agentes IA e integrações avançadas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10789920" cy="868680"/>
          </a:xfrm>
          <a:prstGeom prst="rect">
            <a:avLst/>
          </a:prstGeom>
          <a:solidFill>
            <a:srgbClr val="1A0B40"/>
          </a:solidFill>
          <a:ln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8464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0E1B4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1663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Operação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1846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AF3C"/>
                </a:solidFill>
                <a:latin typeface="Calibri"/>
              </a:defRPr>
            </a:pPr>
            <a:r>
              <a:t>Semanas 11–12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8464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4324F"/>
                </a:solidFill>
                <a:latin typeface="Calibri"/>
              </a:defRPr>
            </a:pPr>
            <a:r>
              <a:t>Go-live, handover e hypercare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9BB9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btech-horizontal-ofici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1EE6"/>
                </a:solidFill>
                <a:latin typeface="Calibri"/>
              </a:defRPr>
            </a:pPr>
            <a:r>
              <a:t>ENTREGÁVEIS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50510"/>
                </a:solidFill>
                <a:latin typeface="Calibri"/>
              </a:defRPr>
            </a:pPr>
            <a:r>
              <a:t>O que você recebe ao final de cada fase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78992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053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Entregável</a:t>
                      </a:r>
                    </a:p>
                  </a:txBody>
                  <a:tcPr>
                    <a:solidFill>
                      <a:srgbClr val="1A0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Formato</a:t>
                      </a:r>
                    </a:p>
                  </a:txBody>
                  <a:tcPr>
                    <a:solidFill>
                      <a:srgbClr val="1A0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1A0B40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Documento de arquitetura (HLD/LLD)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PDF + diagrama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1–2</a:t>
                      </a:r>
                    </a:p>
                  </a:txBody>
                  <a:tcPr/>
                </a:tc>
              </a:tr>
              <a:tr h="36053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Ambiente cloud provisionado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Console + IaC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Política e job de backup testado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Relatório de restore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6053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Fluxos de automação documentados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Repositório + runbook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2–3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36053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Agente IA em produção supervisionada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Painel + métricas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605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Handover e plano de operação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Workshop + checklist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391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1B4"/>
                </a:solidFill>
                <a:latin typeface="Calibri"/>
              </a:defRPr>
            </a:pPr>
            <a:r>
              <a:t>INVESTIMENTO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Proposta econômica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78992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88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A0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Descrição</a:t>
                      </a:r>
                    </a:p>
                  </a:txBody>
                  <a:tcPr>
                    <a:solidFill>
                      <a:srgbClr val="1A0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 (R$)</a:t>
                      </a:r>
                    </a:p>
                  </a:txBody>
                  <a:tcPr>
                    <a:solidFill>
                      <a:srgbClr val="1A0B40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Fase 1 — Diagnóstico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Workshops, mapeamento e plano executivo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[ 28.000 ]</a:t>
                      </a:r>
                    </a:p>
                  </a:txBody>
                  <a:tcPr/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Fase 2 — Fundação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Cloud, backup e automações base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[ 85.000 ]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Fase 3 — Escala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Agentes IA e integrações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[ 62.000 ]</a:t>
                      </a:r>
                    </a:p>
                  </a:txBody>
                  <a:tcPr/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Fase 4 — Operação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Go-live, hypercare e handover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[ 24.000 ]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50510"/>
                          </a:solidFill>
                          <a:latin typeface="Calibri"/>
                        </a:defRPr>
                      </a:pPr>
                      <a:r>
                        <a:t>Total do projeto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12 semanas · escopo conforme anexo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24F"/>
                          </a:solidFill>
                          <a:latin typeface="Calibri"/>
                        </a:defRPr>
                      </a:pPr>
                      <a:r>
                        <a:t>[ 199.000 ]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720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0E1B4"/>
                </a:solidFill>
                <a:latin typeface="Calibri"/>
              </a:defRPr>
            </a:pPr>
            <a:r>
              <a:t>Investimento mensal recorrente (opcional):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Suporte e evolução contínua — [ R$ 8.500 / mês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787391"/>
                </a:solidFill>
                <a:latin typeface="Calibri"/>
              </a:defRPr>
            </a:pPr>
            <a:r>
              <a:t>Valores de referência · ajustar conforme escopo real · impostos conforme regime BTech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9BB9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btech-horizontal-ofici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1EE6"/>
                </a:solidFill>
                <a:latin typeface="Calibri"/>
              </a:defRPr>
            </a:pPr>
            <a:r>
              <a:t>CONDIÇÕES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50510"/>
                </a:solidFill>
                <a:latin typeface="Calibri"/>
              </a:defRPr>
            </a:pPr>
            <a:r>
              <a:t>Premissas e condições comerciais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4324F"/>
                </a:solidFill>
              </a:defRPr>
            </a:pPr>
            <a:r>
              <a:t>Condições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Validade da proposta: 30 dias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Pagamento: 30% na assinatura, 40% na Fase 2, 30% na conclusão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Prazos dependem de acesso a ambientes e stakeholders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Licenças de cloud e software são do cliente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Horas adicionais: [ R$ / h ] sob aprovação prévia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4324F"/>
                </a:solidFill>
              </a:defRPr>
            </a:pPr>
            <a:r>
              <a:t>Premissas e exclusões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Fora de escopo: desenvolvimento de software sob medida não previsto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Exclusões: hardware físico e links de telecom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Ambientes legados sem documentação podem exigir fase extra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Dados sensíveis seguem política LGPD acordada</a:t>
            </a:r>
          </a:p>
          <a:p>
            <a:pPr>
              <a:defRPr sz="1500">
                <a:solidFill>
                  <a:srgbClr val="24324F"/>
                </a:solidFill>
                <a:latin typeface="Calibri"/>
              </a:defRPr>
            </a:pPr>
            <a:r>
              <a:t>Confidencialidade mútua em anexo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391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light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E1EE6"/>
                </a:solidFill>
                <a:latin typeface="Calibri"/>
              </a:defRPr>
            </a:pPr>
            <a:r>
              <a:t>DIFERENCIAIS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050510"/>
                </a:solidFill>
                <a:latin typeface="Calibri"/>
              </a:defRPr>
            </a:pPr>
            <a:r>
              <a:t>Por que a BTech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377440" cy="1417320"/>
          </a:xfrm>
          <a:prstGeom prst="roundRect">
            <a:avLst/>
          </a:prstGeom>
          <a:solidFill>
            <a:srgbClr val="FAFBFF"/>
          </a:solidFill>
          <a:ln w="1905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6E1EE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787391"/>
                </a:solidFill>
                <a:latin typeface="Calibri"/>
              </a:defRPr>
            </a:pPr>
            <a:r>
              <a:t>Conversa antes da ferramenta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011680"/>
            <a:ext cx="2377440" cy="1417320"/>
          </a:xfrm>
          <a:prstGeom prst="roundRect">
            <a:avLst/>
          </a:prstGeom>
          <a:solidFill>
            <a:srgbClr val="FAFBFF"/>
          </a:solidFill>
          <a:ln w="1905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6E1EE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8803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787391"/>
                </a:solidFill>
                <a:latin typeface="Calibri"/>
              </a:defRPr>
            </a:pPr>
            <a:r>
              <a:t>Grupo consultivo multidisciplinar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011680"/>
            <a:ext cx="2377440" cy="1417320"/>
          </a:xfrm>
          <a:prstGeom prst="roundRect">
            <a:avLst/>
          </a:prstGeom>
          <a:solidFill>
            <a:srgbClr val="FAFBFF"/>
          </a:solidFill>
          <a:ln w="1905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6E1EE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8803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787391"/>
                </a:solidFill>
                <a:latin typeface="Calibri"/>
              </a:defRPr>
            </a:pPr>
            <a:r>
              <a:t>Co-entrega com parceiros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11680"/>
            <a:ext cx="2377440" cy="1417320"/>
          </a:xfrm>
          <a:prstGeom prst="roundRect">
            <a:avLst/>
          </a:prstGeom>
          <a:solidFill>
            <a:srgbClr val="FAFBFF"/>
          </a:solidFill>
          <a:ln w="19050">
            <a:solidFill>
              <a:srgbClr val="FA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6E1EE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8803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787391"/>
                </a:solidFill>
                <a:latin typeface="Calibri"/>
              </a:defRPr>
            </a:pPr>
            <a:r>
              <a:t>IA com supervisão humana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 i="0">
                <a:solidFill>
                  <a:srgbClr val="6E1EE6"/>
                </a:solidFill>
                <a:latin typeface="Calibri"/>
              </a:defRPr>
            </a:pPr>
            <a:r>
              <a:t>Não vendemos datacenter. Vendemos resultado.</a:t>
            </a:r>
          </a:p>
          <a:p>
            <a:pPr>
              <a:spcAft>
                <a:spcPts val="600"/>
              </a:spcAft>
              <a:defRPr sz="2000" b="0" i="0">
                <a:solidFill>
                  <a:srgbClr val="05051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0" i="0">
                <a:solidFill>
                  <a:srgbClr val="24324F"/>
                </a:solidFill>
                <a:latin typeface="Calibri"/>
              </a:defRPr>
            </a:pPr>
            <a:r>
              <a:t>Experiência em AWS, Azure, GCP, Kubernetes, OpenShift, Veeam, SAS e automação — com linguagem que gestão e TI entendem juntos.</a:t>
            </a:r>
          </a:p>
        </p:txBody>
      </p:sp>
      <p:pic>
        <p:nvPicPr>
          <p:cNvPr id="19" name="Picture 18" descr="equipe-trabalh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657600"/>
            <a:ext cx="3837738" cy="256032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726679" y="3611880"/>
            <a:ext cx="3931920" cy="2651760"/>
          </a:xfrm>
          <a:prstGeom prst="roundRect">
            <a:avLst/>
          </a:prstGeom>
          <a:noFill/>
          <a:ln w="15875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391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horizontal-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189572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E1B4"/>
                </a:solidFill>
                <a:latin typeface="Calibri"/>
              </a:defRPr>
            </a:pPr>
            <a: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Como seguimos</a:t>
            </a:r>
          </a:p>
        </p:txBody>
      </p:sp>
      <p:sp>
        <p:nvSpPr>
          <p:cNvPr id="6" name="Hexagon 5"/>
          <p:cNvSpPr/>
          <p:nvPr/>
        </p:nvSpPr>
        <p:spPr>
          <a:xfrm>
            <a:off x="914400" y="2377440"/>
            <a:ext cx="1234440" cy="1051560"/>
          </a:xfrm>
          <a:prstGeom prst="hexagon">
            <a:avLst/>
          </a:prstGeom>
          <a:solidFill>
            <a:srgbClr val="1A0B40"/>
          </a:solidFill>
          <a:ln w="254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Alinhar</a:t>
            </a:r>
            <a:br/>
            <a:r>
              <a:t>escopo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0E1B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Hexagon 8"/>
          <p:cNvSpPr/>
          <p:nvPr/>
        </p:nvSpPr>
        <p:spPr>
          <a:xfrm>
            <a:off x="2926080" y="2377440"/>
            <a:ext cx="1234440" cy="1051560"/>
          </a:xfrm>
          <a:prstGeom prst="hexagon">
            <a:avLst/>
          </a:prstGeom>
          <a:solidFill>
            <a:srgbClr val="1A0B40"/>
          </a:solidFill>
          <a:ln w="254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57860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Ajustar</a:t>
            </a:r>
            <a:br/>
            <a:r>
              <a:t>investimento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574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0E1B4"/>
                </a:solidFill>
                <a:latin typeface="Calibri"/>
              </a:defRPr>
            </a:pPr>
            <a: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880360"/>
            <a:ext cx="777240" cy="0"/>
          </a:xfrm>
          <a:prstGeom prst="line">
            <a:avLst/>
          </a:prstGeom>
          <a:ln w="31750">
            <a:solidFill>
              <a:srgbClr val="143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4937760" y="2377440"/>
            <a:ext cx="1234440" cy="1051560"/>
          </a:xfrm>
          <a:prstGeom prst="hexagon">
            <a:avLst/>
          </a:prstGeom>
          <a:solidFill>
            <a:srgbClr val="1A0B40"/>
          </a:solidFill>
          <a:ln w="254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57860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Assinar</a:t>
            </a:r>
            <a:br/>
            <a:r>
              <a:t>contrato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0574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0E1B4"/>
                </a:solidFill>
                <a:latin typeface="Calibri"/>
              </a:defRPr>
            </a:pPr>
            <a: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60520" y="2880360"/>
            <a:ext cx="777240" cy="0"/>
          </a:xfrm>
          <a:prstGeom prst="line">
            <a:avLst/>
          </a:prstGeom>
          <a:ln w="31750">
            <a:solidFill>
              <a:srgbClr val="143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Hexagon 16"/>
          <p:cNvSpPr/>
          <p:nvPr/>
        </p:nvSpPr>
        <p:spPr>
          <a:xfrm>
            <a:off x="6949440" y="2377440"/>
            <a:ext cx="1234440" cy="1051560"/>
          </a:xfrm>
          <a:prstGeom prst="hexagon">
            <a:avLst/>
          </a:prstGeom>
          <a:solidFill>
            <a:srgbClr val="1A0B40"/>
          </a:solidFill>
          <a:ln w="25400">
            <a:solidFill>
              <a:srgbClr val="6E1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578608"/>
            <a:ext cx="1143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Kick-off</a:t>
            </a:r>
            <a:br/>
            <a:r>
              <a:t>Fase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0574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0E1B4"/>
                </a:solidFill>
                <a:latin typeface="Calibri"/>
              </a:defRPr>
            </a:pPr>
            <a: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72200" y="2880360"/>
            <a:ext cx="777240" cy="0"/>
          </a:xfrm>
          <a:prstGeom prst="line">
            <a:avLst/>
          </a:prstGeom>
          <a:ln w="31750">
            <a:solidFill>
              <a:srgbClr val="143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4114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4324F"/>
                </a:solidFill>
                <a:latin typeface="Calibri"/>
              </a:defRPr>
            </a:pPr>
            <a:r>
              <a:t>Próxima reunião sugerida: [data] · Participantes: [nomes]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9BB9"/>
                </a:solidFill>
              </a:defRPr>
            </a:pPr>
            <a:r>
              <a:t>BTech · Proposta comercial · Confidencial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-btech-stacked-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"/>
            <a:ext cx="42530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19456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O futuro não é algo que encontramos.</a:t>
            </a:r>
            <a:br/>
            <a:r>
              <a:t>É algo que construímos.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840480"/>
            <a:ext cx="914400" cy="64008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0" y="3840480"/>
            <a:ext cx="914400" cy="64008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3840480"/>
            <a:ext cx="914400" cy="64008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3840480"/>
            <a:ext cx="914400" cy="64008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00E1B4"/>
                </a:solidFill>
                <a:latin typeface="Calibri"/>
              </a:defRPr>
            </a:pPr>
            <a:r>
              <a:t>comercial@b-tech.cloud</a:t>
            </a:r>
          </a:p>
          <a:p>
            <a:pPr>
              <a:spcAft>
                <a:spcPts val="600"/>
              </a:spcAft>
              <a:defRPr sz="1600" b="0" i="0">
                <a:solidFill>
                  <a:srgbClr val="24324F"/>
                </a:solidFill>
                <a:latin typeface="Calibri"/>
              </a:defRPr>
            </a:pPr>
            <a:r>
              <a:t>(11) 9 3022-6495</a:t>
            </a:r>
          </a:p>
          <a:p>
            <a:pPr>
              <a:spcAft>
                <a:spcPts val="600"/>
              </a:spcAft>
              <a:defRPr sz="1400" b="0" i="0">
                <a:solidFill>
                  <a:srgbClr val="787391"/>
                </a:solidFill>
                <a:latin typeface="Calibri"/>
              </a:defRPr>
            </a:pPr>
            <a:r>
              <a:t>btech.cloud · Brasília/DF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9BB9"/>
                </a:solidFill>
              </a:defRPr>
            </a:pPr>
            <a:r>
              <a:t>BTech · Obrigado pela confiança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